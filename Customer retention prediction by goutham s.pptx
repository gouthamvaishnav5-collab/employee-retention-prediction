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4" r:id="rId3"/>
    <p:sldId id="674" r:id="rId4"/>
    <p:sldId id="716" r:id="rId5"/>
    <p:sldId id="717" r:id="rId6"/>
    <p:sldId id="743" r:id="rId7"/>
    <p:sldId id="719" r:id="rId8"/>
    <p:sldId id="720" r:id="rId9"/>
    <p:sldId id="722" r:id="rId10"/>
    <p:sldId id="740" r:id="rId11"/>
    <p:sldId id="744" r:id="rId12"/>
    <p:sldId id="723" r:id="rId13"/>
    <p:sldId id="724" r:id="rId14"/>
    <p:sldId id="725" r:id="rId15"/>
    <p:sldId id="728" r:id="rId16"/>
    <p:sldId id="729" r:id="rId17"/>
    <p:sldId id="730" r:id="rId18"/>
    <p:sldId id="741" r:id="rId19"/>
    <p:sldId id="745" r:id="rId20"/>
    <p:sldId id="736" r:id="rId21"/>
    <p:sldId id="738"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18-12-2025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14890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Javanese Text" panose="02000000000000000000" pitchFamily="2" charset="0"/>
              </a:rPr>
              <a:t> </a:t>
            </a:r>
            <a:r>
              <a:rPr lang="en-IN" sz="4400" b="1" dirty="0">
                <a:latin typeface="Javanese Text" panose="02000000000000000000" pitchFamily="2" charset="0"/>
              </a:rPr>
              <a:t>Employee Retention Prediction</a:t>
            </a:r>
            <a:endParaRPr lang="en-US" sz="4400" b="1" dirty="0">
              <a:latin typeface="Javanese Text" panose="02000000000000000000" pitchFamily="2" charset="0"/>
            </a:endParaRPr>
          </a:p>
          <a:p>
            <a:pPr algn="ctr"/>
            <a:r>
              <a:rPr lang="en-US" sz="4400" b="1" dirty="0">
                <a:latin typeface="Javanese Text" panose="02000000000000000000" pitchFamily="2" charset="0"/>
              </a:rPr>
              <a:t>By: </a:t>
            </a:r>
            <a:r>
              <a:rPr lang="en-US" sz="4400" b="1" dirty="0" err="1">
                <a:latin typeface="Javanese Text" panose="02000000000000000000" pitchFamily="2" charset="0"/>
              </a:rPr>
              <a:t>Goutham.s</a:t>
            </a:r>
            <a:endParaRPr lang="en-US" sz="4400" b="1" dirty="0">
              <a:latin typeface="Javanese Text" panose="02000000000000000000" pitchFamily="2"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IN" dirty="0"/>
              <a:t>Agenda</a:t>
            </a:r>
          </a:p>
        </p:txBody>
      </p:sp>
      <p:sp>
        <p:nvSpPr>
          <p:cNvPr id="5" name="Rectangle 2">
            <a:extLst>
              <a:ext uri="{FF2B5EF4-FFF2-40B4-BE49-F238E27FC236}">
                <a16:creationId xmlns:a16="http://schemas.microsoft.com/office/drawing/2014/main" id="{5E8E5A79-7495-AA71-E2F6-8A29403B6390}"/>
              </a:ext>
            </a:extLst>
          </p:cNvPr>
          <p:cNvSpPr>
            <a:spLocks noGrp="1" noChangeArrowheads="1"/>
          </p:cNvSpPr>
          <p:nvPr>
            <p:ph idx="1"/>
          </p:nvPr>
        </p:nvSpPr>
        <p:spPr bwMode="auto">
          <a:xfrm>
            <a:off x="678884" y="1103011"/>
            <a:ext cx="7768811"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Introduction &amp; Problem Statement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Project Objectives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Dataset Overview</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Data Understanding &amp; Challenges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Exploratory Data Analysis (EDA)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Data Preprocessing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Model Building &amp; Comparison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Handling Class Imbalance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Final Model Selection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Conclusion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476293"/>
            <a:ext cx="10834234" cy="4398066"/>
          </a:xfrm>
          <a:prstGeom prst="rect">
            <a:avLst/>
          </a:prstGeom>
        </p:spPr>
        <p:txBody>
          <a:bodyPr>
            <a:normAutofit fontScale="700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a:lnSpc>
                <a:spcPct val="160000"/>
              </a:lnSpc>
            </a:pPr>
            <a:r>
              <a:rPr lang="en-US" dirty="0"/>
              <a:t>Employee attrition is a major concern for </a:t>
            </a:r>
            <a:r>
              <a:rPr lang="en-US" dirty="0" err="1"/>
              <a:t>organisations</a:t>
            </a:r>
            <a:r>
              <a:rPr lang="en-US" dirty="0"/>
              <a:t>, especially in highly competitive roles such as data science</a:t>
            </a:r>
          </a:p>
          <a:p>
            <a:pPr>
              <a:lnSpc>
                <a:spcPct val="160000"/>
              </a:lnSpc>
            </a:pPr>
            <a:r>
              <a:rPr lang="en-US" dirty="0"/>
              <a:t>High attrition leads to increased recruitment costs, loss of skilled talent, and disruption of ongoing projects</a:t>
            </a:r>
          </a:p>
          <a:p>
            <a:pPr>
              <a:lnSpc>
                <a:spcPct val="160000"/>
              </a:lnSpc>
            </a:pPr>
            <a:r>
              <a:rPr lang="en-US" dirty="0"/>
              <a:t>Traditional HR analysis is mostly reactive and fails to identify early warning signals</a:t>
            </a:r>
          </a:p>
          <a:p>
            <a:pPr>
              <a:lnSpc>
                <a:spcPct val="160000"/>
              </a:lnSpc>
            </a:pPr>
            <a:r>
              <a:rPr lang="en-US" dirty="0"/>
              <a:t>There is a need for a </a:t>
            </a:r>
            <a:r>
              <a:rPr lang="en-US" b="1" dirty="0"/>
              <a:t>data-driven predictive approach</a:t>
            </a:r>
            <a:r>
              <a:rPr lang="en-US" dirty="0"/>
              <a:t> to identify employees likely to change jobs</a:t>
            </a:r>
          </a:p>
          <a:p>
            <a:pPr marL="0" indent="0">
              <a:lnSpc>
                <a:spcPct val="160000"/>
              </a:lnSpc>
              <a:buNone/>
            </a:pPr>
            <a:r>
              <a:rPr lang="en-US" b="1" dirty="0"/>
              <a:t>Problem Addressed:</a:t>
            </a:r>
            <a:br>
              <a:rPr lang="en-US" dirty="0"/>
            </a:br>
            <a:r>
              <a:rPr lang="en-US" dirty="0"/>
              <a:t>Predict job-change likelihood using machine learning techniques.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ED4E-F74F-9CAA-D7D7-512819549D9A}"/>
              </a:ext>
            </a:extLst>
          </p:cNvPr>
          <p:cNvSpPr>
            <a:spLocks noGrp="1"/>
          </p:cNvSpPr>
          <p:nvPr>
            <p:ph type="title"/>
          </p:nvPr>
        </p:nvSpPr>
        <p:spPr/>
        <p:txBody>
          <a:bodyPr/>
          <a:lstStyle/>
          <a:p>
            <a:r>
              <a:rPr lang="en-IN" dirty="0"/>
              <a:t>Project Objectives</a:t>
            </a:r>
            <a:endParaRPr lang="en-IN"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6C91065-86E2-558E-9926-CBFEDD189A56}"/>
              </a:ext>
            </a:extLst>
          </p:cNvPr>
          <p:cNvSpPr>
            <a:spLocks noGrp="1" noChangeArrowheads="1"/>
          </p:cNvSpPr>
          <p:nvPr>
            <p:ph idx="1"/>
          </p:nvPr>
        </p:nvSpPr>
        <p:spPr bwMode="auto">
          <a:xfrm>
            <a:off x="678884" y="1308260"/>
            <a:ext cx="9578299"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a:t>
            </a:r>
            <a:r>
              <a:rPr kumimoji="0" lang="en-US" altLang="en-US" sz="2400" b="0" i="0" u="none" strike="noStrike" cap="none" normalizeH="0" baseline="0" dirty="0" err="1">
                <a:ln>
                  <a:noFill/>
                </a:ln>
                <a:solidFill>
                  <a:schemeClr val="tx1"/>
                </a:solidFill>
                <a:effectLst/>
                <a:ea typeface="Calibri" panose="020F0502020204030204" pitchFamily="34" charset="0"/>
                <a:cs typeface="Calibri" panose="020F0502020204030204" pitchFamily="34" charset="0"/>
              </a:rPr>
              <a:t>analyse</a:t>
            </a: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 employee demographic, educational, and professional attributes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identify patterns and trends associated with employee attrition</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perform detailed Exploratory Data Analysis (EDA)</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preprocess data for effective machine learning   modelling</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build and compare multiple classification models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handle class imbalance using appropriate      techniques</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ea typeface="Calibri" panose="020F0502020204030204" pitchFamily="34" charset="0"/>
                <a:cs typeface="Calibri" panose="020F0502020204030204" pitchFamily="34" charset="0"/>
              </a:rPr>
              <a:t>To select a robust and reliable final model for prediction</a:t>
            </a:r>
          </a:p>
        </p:txBody>
      </p:sp>
    </p:spTree>
    <p:extLst>
      <p:ext uri="{BB962C8B-B14F-4D97-AF65-F5344CB8AC3E}">
        <p14:creationId xmlns:p14="http://schemas.microsoft.com/office/powerpoint/2010/main" val="12603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F3BF-5DB7-EB97-FF29-F9854C9389F3}"/>
              </a:ext>
            </a:extLst>
          </p:cNvPr>
          <p:cNvSpPr>
            <a:spLocks noGrp="1"/>
          </p:cNvSpPr>
          <p:nvPr>
            <p:ph type="title"/>
          </p:nvPr>
        </p:nvSpPr>
        <p:spPr>
          <a:xfrm>
            <a:off x="957180" y="563909"/>
            <a:ext cx="10834234" cy="612775"/>
          </a:xfrm>
        </p:spPr>
        <p:txBody>
          <a:bodyPr/>
          <a:lstStyle/>
          <a:p>
            <a:r>
              <a:rPr lang="en-IN" dirty="0"/>
              <a:t>Dataset Overview</a:t>
            </a:r>
            <a:endParaRPr lang="en-IN" dirty="0">
              <a:latin typeface="Times New Roman" panose="02020603050405020304" pitchFamily="18" charset="0"/>
              <a:cs typeface="Times New Roman" panose="02020603050405020304" pitchFamily="18" charset="0"/>
            </a:endParaRPr>
          </a:p>
        </p:txBody>
      </p:sp>
      <p:sp>
        <p:nvSpPr>
          <p:cNvPr id="10" name="Rectangle 3">
            <a:extLst>
              <a:ext uri="{FF2B5EF4-FFF2-40B4-BE49-F238E27FC236}">
                <a16:creationId xmlns:a16="http://schemas.microsoft.com/office/drawing/2014/main" id="{1998B336-76B4-511D-A704-93ECCB39B32A}"/>
              </a:ext>
            </a:extLst>
          </p:cNvPr>
          <p:cNvSpPr>
            <a:spLocks noGrp="1" noChangeArrowheads="1"/>
          </p:cNvSpPr>
          <p:nvPr>
            <p:ph idx="1"/>
          </p:nvPr>
        </p:nvSpPr>
        <p:spPr bwMode="auto">
          <a:xfrm>
            <a:off x="957180" y="1330643"/>
            <a:ext cx="8077490"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HR analytics dataset focused on data scientists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Training dataset contains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19,158 employee records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Test dataset contains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2,129 employee records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Dataset includes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14 features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covering: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Demographics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Education background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Work experience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Company-related attributes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Target variable indicates job-change intention</a:t>
            </a:r>
          </a:p>
        </p:txBody>
      </p:sp>
    </p:spTree>
    <p:extLst>
      <p:ext uri="{BB962C8B-B14F-4D97-AF65-F5344CB8AC3E}">
        <p14:creationId xmlns:p14="http://schemas.microsoft.com/office/powerpoint/2010/main" val="256949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DB7F-087E-46E6-DC80-26B4F1E3EFE2}"/>
              </a:ext>
            </a:extLst>
          </p:cNvPr>
          <p:cNvSpPr>
            <a:spLocks noGrp="1"/>
          </p:cNvSpPr>
          <p:nvPr>
            <p:ph type="title"/>
          </p:nvPr>
        </p:nvSpPr>
        <p:spPr>
          <a:xfrm>
            <a:off x="678883" y="857167"/>
            <a:ext cx="10834234" cy="612775"/>
          </a:xfrm>
        </p:spPr>
        <p:txBody>
          <a:bodyPr/>
          <a:lstStyle/>
          <a:p>
            <a:r>
              <a:rPr lang="en-IN" dirty="0"/>
              <a:t>Dataset Overview</a:t>
            </a:r>
          </a:p>
        </p:txBody>
      </p:sp>
      <p:sp>
        <p:nvSpPr>
          <p:cNvPr id="4" name="Text Placeholder 3">
            <a:extLst>
              <a:ext uri="{FF2B5EF4-FFF2-40B4-BE49-F238E27FC236}">
                <a16:creationId xmlns:a16="http://schemas.microsoft.com/office/drawing/2014/main" id="{2587874B-BF3C-841C-B8FF-C28587D904D0}"/>
              </a:ext>
            </a:extLst>
          </p:cNvPr>
          <p:cNvSpPr>
            <a:spLocks noGrp="1"/>
          </p:cNvSpPr>
          <p:nvPr>
            <p:ph type="body" idx="1"/>
          </p:nvPr>
        </p:nvSpPr>
        <p:spPr/>
        <p:txBody>
          <a:bodyPr/>
          <a:lstStyle/>
          <a:p>
            <a:r>
              <a:rPr lang="en-IN" dirty="0"/>
              <a:t>DATASET PREVIEW</a:t>
            </a:r>
          </a:p>
        </p:txBody>
      </p:sp>
      <p:pic>
        <p:nvPicPr>
          <p:cNvPr id="9" name="Content Placeholder 8">
            <a:extLst>
              <a:ext uri="{FF2B5EF4-FFF2-40B4-BE49-F238E27FC236}">
                <a16:creationId xmlns:a16="http://schemas.microsoft.com/office/drawing/2014/main" id="{B9FDDA7D-A617-F3DC-2136-79669432696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r="16255"/>
          <a:stretch>
            <a:fillRect/>
          </a:stretch>
        </p:blipFill>
        <p:spPr>
          <a:xfrm>
            <a:off x="417444" y="2505075"/>
            <a:ext cx="5318693" cy="3438524"/>
          </a:xfrm>
        </p:spPr>
      </p:pic>
      <p:sp>
        <p:nvSpPr>
          <p:cNvPr id="6" name="Text Placeholder 5">
            <a:extLst>
              <a:ext uri="{FF2B5EF4-FFF2-40B4-BE49-F238E27FC236}">
                <a16:creationId xmlns:a16="http://schemas.microsoft.com/office/drawing/2014/main" id="{8FC9C61D-9866-7184-BFE7-0AE122D3A759}"/>
              </a:ext>
            </a:extLst>
          </p:cNvPr>
          <p:cNvSpPr>
            <a:spLocks noGrp="1"/>
          </p:cNvSpPr>
          <p:nvPr>
            <p:ph type="body" sz="quarter" idx="3"/>
          </p:nvPr>
        </p:nvSpPr>
        <p:spPr/>
        <p:txBody>
          <a:bodyPr/>
          <a:lstStyle/>
          <a:p>
            <a:r>
              <a:rPr lang="en-IN" dirty="0"/>
              <a:t>DF.INFO</a:t>
            </a:r>
          </a:p>
        </p:txBody>
      </p:sp>
      <p:pic>
        <p:nvPicPr>
          <p:cNvPr id="11" name="Content Placeholder 10">
            <a:extLst>
              <a:ext uri="{FF2B5EF4-FFF2-40B4-BE49-F238E27FC236}">
                <a16:creationId xmlns:a16="http://schemas.microsoft.com/office/drawing/2014/main" id="{9E161B88-8466-3F18-6DE0-7281547CB49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659420" y="2505075"/>
            <a:ext cx="4365910" cy="3552825"/>
          </a:xfrm>
        </p:spPr>
      </p:pic>
    </p:spTree>
    <p:extLst>
      <p:ext uri="{BB962C8B-B14F-4D97-AF65-F5344CB8AC3E}">
        <p14:creationId xmlns:p14="http://schemas.microsoft.com/office/powerpoint/2010/main" val="2022207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096E571-B417-E68F-3777-892655617246}"/>
              </a:ext>
            </a:extLst>
          </p:cNvPr>
          <p:cNvSpPr>
            <a:spLocks noGrp="1"/>
          </p:cNvSpPr>
          <p:nvPr>
            <p:ph type="title"/>
          </p:nvPr>
        </p:nvSpPr>
        <p:spPr/>
        <p:txBody>
          <a:bodyPr/>
          <a:lstStyle/>
          <a:p>
            <a:r>
              <a:rPr lang="en-IN" dirty="0"/>
              <a:t>Feature Description &amp; Types</a:t>
            </a:r>
            <a:endParaRPr lang="en-IN"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85B4B4DE-656E-4BCB-E9E9-6947F043A058}"/>
              </a:ext>
            </a:extLst>
          </p:cNvPr>
          <p:cNvSpPr>
            <a:spLocks noGrp="1" noChangeArrowheads="1"/>
          </p:cNvSpPr>
          <p:nvPr>
            <p:ph idx="1"/>
          </p:nvPr>
        </p:nvSpPr>
        <p:spPr bwMode="auto">
          <a:xfrm>
            <a:off x="606287" y="1216441"/>
            <a:ext cx="9743952" cy="4909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800" dirty="0"/>
              <a:t>Numerical Features:</a:t>
            </a:r>
          </a:p>
          <a:p>
            <a:pPr lvl="1">
              <a:lnSpc>
                <a:spcPct val="150000"/>
              </a:lnSpc>
            </a:pPr>
            <a:r>
              <a:rPr lang="en-US" sz="1800" dirty="0" err="1"/>
              <a:t>city_development_index</a:t>
            </a:r>
            <a:endParaRPr lang="en-US" sz="1800" dirty="0"/>
          </a:p>
          <a:p>
            <a:pPr lvl="1">
              <a:lnSpc>
                <a:spcPct val="150000"/>
              </a:lnSpc>
            </a:pPr>
            <a:r>
              <a:rPr lang="en-US" sz="1800" dirty="0" err="1"/>
              <a:t>training_hours</a:t>
            </a:r>
            <a:endParaRPr lang="en-US" sz="1800" dirty="0"/>
          </a:p>
          <a:p>
            <a:pPr>
              <a:lnSpc>
                <a:spcPct val="150000"/>
              </a:lnSpc>
            </a:pPr>
            <a:r>
              <a:rPr lang="en-US" sz="1800" dirty="0"/>
              <a:t>Categorical Features:</a:t>
            </a:r>
          </a:p>
          <a:p>
            <a:pPr lvl="1">
              <a:lnSpc>
                <a:spcPct val="150000"/>
              </a:lnSpc>
            </a:pPr>
            <a:r>
              <a:rPr lang="en-US" sz="1800" dirty="0"/>
              <a:t>gender, </a:t>
            </a:r>
            <a:r>
              <a:rPr lang="en-US" sz="1800" dirty="0" err="1"/>
              <a:t>education_level</a:t>
            </a:r>
            <a:r>
              <a:rPr lang="en-US" sz="1800" dirty="0"/>
              <a:t>, </a:t>
            </a:r>
            <a:r>
              <a:rPr lang="en-US" sz="1800" dirty="0" err="1"/>
              <a:t>company_size</a:t>
            </a:r>
            <a:r>
              <a:rPr lang="en-US" sz="1800" dirty="0"/>
              <a:t>, </a:t>
            </a:r>
            <a:r>
              <a:rPr lang="en-US" sz="1800" dirty="0" err="1"/>
              <a:t>company_type</a:t>
            </a:r>
            <a:r>
              <a:rPr lang="en-US" sz="1800" dirty="0"/>
              <a:t>, etc.</a:t>
            </a:r>
          </a:p>
          <a:p>
            <a:pPr>
              <a:lnSpc>
                <a:spcPct val="150000"/>
              </a:lnSpc>
            </a:pPr>
            <a:r>
              <a:rPr lang="en-US" sz="1800" dirty="0"/>
              <a:t>Target Variable:</a:t>
            </a:r>
          </a:p>
          <a:p>
            <a:pPr lvl="1">
              <a:lnSpc>
                <a:spcPct val="150000"/>
              </a:lnSpc>
            </a:pPr>
            <a:r>
              <a:rPr lang="en-US" sz="1800" dirty="0"/>
              <a:t>0 → Not looking for a job change</a:t>
            </a:r>
          </a:p>
          <a:p>
            <a:pPr lvl="1">
              <a:lnSpc>
                <a:spcPct val="150000"/>
              </a:lnSpc>
            </a:pPr>
            <a:r>
              <a:rPr lang="en-US" sz="1800" dirty="0"/>
              <a:t>1 → Looking for a job change</a:t>
            </a:r>
          </a:p>
          <a:p>
            <a:pPr>
              <a:lnSpc>
                <a:spcPct val="150000"/>
              </a:lnSpc>
            </a:pPr>
            <a:r>
              <a:rPr lang="en-US" sz="1800" b="1" dirty="0"/>
              <a:t>Observation:</a:t>
            </a:r>
            <a:br>
              <a:rPr lang="en-US" sz="1800" dirty="0"/>
            </a:br>
            <a:r>
              <a:rPr lang="en-US" sz="1800" dirty="0"/>
              <a:t>A large number of categorical features requires encoding before modeling.</a:t>
            </a:r>
          </a:p>
        </p:txBody>
      </p:sp>
    </p:spTree>
    <p:extLst>
      <p:ext uri="{BB962C8B-B14F-4D97-AF65-F5344CB8AC3E}">
        <p14:creationId xmlns:p14="http://schemas.microsoft.com/office/powerpoint/2010/main" val="2267380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F66C-FBCB-C2A8-1311-C516EA9C1E3B}"/>
              </a:ext>
            </a:extLst>
          </p:cNvPr>
          <p:cNvSpPr>
            <a:spLocks noGrp="1"/>
          </p:cNvSpPr>
          <p:nvPr>
            <p:ph type="title"/>
          </p:nvPr>
        </p:nvSpPr>
        <p:spPr/>
        <p:txBody>
          <a:bodyPr>
            <a:normAutofit fontScale="90000"/>
          </a:bodyPr>
          <a:lstStyle/>
          <a:p>
            <a:r>
              <a:rPr lang="en-IN" dirty="0"/>
              <a:t>Data Understanding &amp; Challenges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0B7892-5AE4-570B-9F32-90BEEEBB748F}"/>
              </a:ext>
            </a:extLst>
          </p:cNvPr>
          <p:cNvSpPr>
            <a:spLocks noGrp="1"/>
          </p:cNvSpPr>
          <p:nvPr>
            <p:ph idx="1"/>
          </p:nvPr>
        </p:nvSpPr>
        <p:spPr/>
        <p:txBody>
          <a:bodyPr>
            <a:normAutofit fontScale="62500" lnSpcReduction="20000"/>
          </a:bodyPr>
          <a:lstStyle/>
          <a:p>
            <a:pPr>
              <a:lnSpc>
                <a:spcPct val="170000"/>
              </a:lnSpc>
            </a:pPr>
            <a:r>
              <a:rPr lang="en-US" dirty="0"/>
              <a:t>Presence of missing values in multiple categorical columns</a:t>
            </a:r>
          </a:p>
          <a:p>
            <a:pPr>
              <a:lnSpc>
                <a:spcPct val="170000"/>
              </a:lnSpc>
            </a:pPr>
            <a:r>
              <a:rPr lang="en-US" dirty="0"/>
              <a:t>High cardinality in certain features such as city</a:t>
            </a:r>
          </a:p>
          <a:p>
            <a:pPr>
              <a:lnSpc>
                <a:spcPct val="170000"/>
              </a:lnSpc>
            </a:pPr>
            <a:r>
              <a:rPr lang="en-US" dirty="0"/>
              <a:t>Identifier column (</a:t>
            </a:r>
            <a:r>
              <a:rPr lang="en-US" dirty="0" err="1"/>
              <a:t>enrollee_id</a:t>
            </a:r>
            <a:r>
              <a:rPr lang="en-US" dirty="0"/>
              <a:t>) does not carry predictive meaning</a:t>
            </a:r>
          </a:p>
          <a:p>
            <a:pPr>
              <a:lnSpc>
                <a:spcPct val="170000"/>
              </a:lnSpc>
            </a:pPr>
            <a:r>
              <a:rPr lang="en-US" dirty="0"/>
              <a:t>Target variable shows clear imbalance</a:t>
            </a:r>
          </a:p>
          <a:p>
            <a:pPr>
              <a:lnSpc>
                <a:spcPct val="170000"/>
              </a:lnSpc>
            </a:pPr>
            <a:r>
              <a:rPr lang="en-US" b="1" dirty="0"/>
              <a:t>Impact:</a:t>
            </a:r>
            <a:br>
              <a:rPr lang="en-US" dirty="0"/>
            </a:br>
            <a:r>
              <a:rPr lang="en-US" dirty="0"/>
              <a:t>These challenges directly influence model selection and evaluation strategy.</a:t>
            </a:r>
          </a:p>
        </p:txBody>
      </p:sp>
      <p:pic>
        <p:nvPicPr>
          <p:cNvPr id="8" name="Picture 7">
            <a:extLst>
              <a:ext uri="{FF2B5EF4-FFF2-40B4-BE49-F238E27FC236}">
                <a16:creationId xmlns:a16="http://schemas.microsoft.com/office/drawing/2014/main" id="{3F2500E8-FBB8-4CCC-0AAA-F9792FCC5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1247" y="1077743"/>
            <a:ext cx="4601872" cy="4192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91660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E20B-662F-2541-2F25-94DACD03E233}"/>
              </a:ext>
            </a:extLst>
          </p:cNvPr>
          <p:cNvSpPr>
            <a:spLocks noGrp="1"/>
          </p:cNvSpPr>
          <p:nvPr>
            <p:ph type="title"/>
          </p:nvPr>
        </p:nvSpPr>
        <p:spPr/>
        <p:txBody>
          <a:bodyPr/>
          <a:lstStyle/>
          <a:p>
            <a:r>
              <a:rPr lang="en-IN" dirty="0"/>
              <a:t>Target Variable Analysis</a:t>
            </a:r>
          </a:p>
        </p:txBody>
      </p:sp>
      <p:sp>
        <p:nvSpPr>
          <p:cNvPr id="3" name="Content Placeholder 2">
            <a:extLst>
              <a:ext uri="{FF2B5EF4-FFF2-40B4-BE49-F238E27FC236}">
                <a16:creationId xmlns:a16="http://schemas.microsoft.com/office/drawing/2014/main" id="{5A9E9F13-2361-422D-74F3-41BDF36A303C}"/>
              </a:ext>
            </a:extLst>
          </p:cNvPr>
          <p:cNvSpPr>
            <a:spLocks noGrp="1"/>
          </p:cNvSpPr>
          <p:nvPr>
            <p:ph idx="1"/>
          </p:nvPr>
        </p:nvSpPr>
        <p:spPr>
          <a:xfrm>
            <a:off x="678884" y="1675075"/>
            <a:ext cx="5672220" cy="4398066"/>
          </a:xfrm>
        </p:spPr>
        <p:txBody>
          <a:bodyPr>
            <a:normAutofit fontScale="85000" lnSpcReduction="20000"/>
          </a:bodyPr>
          <a:lstStyle/>
          <a:p>
            <a:pPr>
              <a:lnSpc>
                <a:spcPct val="150000"/>
              </a:lnSpc>
            </a:pPr>
            <a:r>
              <a:rPr lang="en-US" sz="2400" dirty="0"/>
              <a:t> The majority of employees are not actively looking for a job change</a:t>
            </a:r>
          </a:p>
          <a:p>
            <a:pPr>
              <a:lnSpc>
                <a:spcPct val="150000"/>
              </a:lnSpc>
            </a:pPr>
            <a:r>
              <a:rPr lang="en-US" sz="2400" dirty="0"/>
              <a:t>Minority class (job change = 1) is significantly underrepresented</a:t>
            </a:r>
          </a:p>
          <a:p>
            <a:pPr>
              <a:lnSpc>
                <a:spcPct val="150000"/>
              </a:lnSpc>
            </a:pPr>
            <a:r>
              <a:rPr lang="en-US" sz="2400" dirty="0"/>
              <a:t>Indicates a </a:t>
            </a:r>
            <a:r>
              <a:rPr lang="en-US" sz="2400" b="1" dirty="0"/>
              <a:t>class imbalance problem</a:t>
            </a:r>
            <a:endParaRPr lang="en-US" sz="2400" dirty="0"/>
          </a:p>
          <a:p>
            <a:pPr marL="0" indent="0">
              <a:lnSpc>
                <a:spcPct val="150000"/>
              </a:lnSpc>
              <a:buNone/>
            </a:pPr>
            <a:r>
              <a:rPr lang="en-US" sz="2400" b="1" dirty="0"/>
              <a:t>    Why this matters:</a:t>
            </a:r>
            <a:endParaRPr lang="en-US" sz="2400" dirty="0"/>
          </a:p>
          <a:p>
            <a:pPr>
              <a:lnSpc>
                <a:spcPct val="150000"/>
              </a:lnSpc>
            </a:pPr>
            <a:r>
              <a:rPr lang="en-US" sz="2400" dirty="0"/>
              <a:t>Accuracy alone can be misleading</a:t>
            </a:r>
          </a:p>
          <a:p>
            <a:pPr>
              <a:lnSpc>
                <a:spcPct val="150000"/>
              </a:lnSpc>
            </a:pPr>
            <a:r>
              <a:rPr lang="en-US" sz="2400" dirty="0"/>
              <a:t>Recall, Precision, F1-score, and ROC-AUC are more appropriate metrics</a:t>
            </a:r>
          </a:p>
        </p:txBody>
      </p:sp>
      <p:pic>
        <p:nvPicPr>
          <p:cNvPr id="10" name="Picture 9">
            <a:extLst>
              <a:ext uri="{FF2B5EF4-FFF2-40B4-BE49-F238E27FC236}">
                <a16:creationId xmlns:a16="http://schemas.microsoft.com/office/drawing/2014/main" id="{A009A093-7579-E05F-0458-5D0E2F695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8439" y="1349548"/>
            <a:ext cx="5114677" cy="41589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3236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172FC-2042-2718-8A5E-C3AC9D700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9BC8D-BB3C-FCDB-D495-4B512AC569E4}"/>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8091A76D-57F0-0A81-83A4-502CE702C24C}"/>
              </a:ext>
            </a:extLst>
          </p:cNvPr>
          <p:cNvSpPr>
            <a:spLocks noGrp="1"/>
          </p:cNvSpPr>
          <p:nvPr>
            <p:ph idx="1"/>
          </p:nvPr>
        </p:nvSpPr>
        <p:spPr>
          <a:xfrm>
            <a:off x="678884" y="1446475"/>
            <a:ext cx="9111159" cy="4398066"/>
          </a:xfrm>
        </p:spPr>
        <p:txBody>
          <a:bodyPr>
            <a:normAutofit fontScale="85000" lnSpcReduction="10000"/>
          </a:bodyPr>
          <a:lstStyle/>
          <a:p>
            <a:pPr>
              <a:lnSpc>
                <a:spcPct val="160000"/>
              </a:lnSpc>
            </a:pPr>
            <a:r>
              <a:rPr lang="en-US" dirty="0"/>
              <a:t>Distribution analysis performed on numerical features</a:t>
            </a:r>
          </a:p>
          <a:p>
            <a:pPr>
              <a:lnSpc>
                <a:spcPct val="160000"/>
              </a:lnSpc>
            </a:pPr>
            <a:r>
              <a:rPr lang="en-US" dirty="0"/>
              <a:t>Training hours show high variance and right-skewed distribution</a:t>
            </a:r>
          </a:p>
          <a:p>
            <a:pPr>
              <a:lnSpc>
                <a:spcPct val="160000"/>
              </a:lnSpc>
            </a:pPr>
            <a:r>
              <a:rPr lang="en-US" dirty="0"/>
              <a:t>City development index is concentrated toward higher values</a:t>
            </a:r>
          </a:p>
          <a:p>
            <a:pPr>
              <a:lnSpc>
                <a:spcPct val="160000"/>
              </a:lnSpc>
            </a:pPr>
            <a:r>
              <a:rPr lang="en-US" dirty="0" err="1"/>
              <a:t>enrollee_id</a:t>
            </a:r>
            <a:r>
              <a:rPr lang="en-US" dirty="0"/>
              <a:t> shows uniform distribution and no meaningful pattern</a:t>
            </a:r>
          </a:p>
          <a:p>
            <a:pPr>
              <a:lnSpc>
                <a:spcPct val="160000"/>
              </a:lnSpc>
            </a:pPr>
            <a:r>
              <a:rPr lang="en-US" b="1" dirty="0"/>
              <a:t>Insight:</a:t>
            </a:r>
            <a:br>
              <a:rPr lang="en-US" dirty="0"/>
            </a:br>
            <a:r>
              <a:rPr lang="en-US" dirty="0"/>
              <a:t>EDA helps distinguish meaningful predictors from non-informative identifiers.</a:t>
            </a:r>
          </a:p>
        </p:txBody>
      </p:sp>
    </p:spTree>
    <p:extLst>
      <p:ext uri="{BB962C8B-B14F-4D97-AF65-F5344CB8AC3E}">
        <p14:creationId xmlns:p14="http://schemas.microsoft.com/office/powerpoint/2010/main" val="742997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62EB0-78C6-1E19-7478-D9E40A945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0F4B7-6152-511E-FC96-6F3E45F96753}"/>
              </a:ext>
            </a:extLst>
          </p:cNvPr>
          <p:cNvSpPr>
            <a:spLocks noGrp="1"/>
          </p:cNvSpPr>
          <p:nvPr>
            <p:ph type="title"/>
          </p:nvPr>
        </p:nvSpPr>
        <p:spPr>
          <a:xfrm>
            <a:off x="678882" y="225979"/>
            <a:ext cx="10834234" cy="612775"/>
          </a:xfrm>
        </p:spPr>
        <p:txBody>
          <a:bodyPr/>
          <a:lstStyle/>
          <a:p>
            <a:r>
              <a:rPr lang="en-IN" dirty="0"/>
              <a:t>Exploratory Data Analysis (EDA)</a:t>
            </a:r>
          </a:p>
        </p:txBody>
      </p:sp>
      <p:pic>
        <p:nvPicPr>
          <p:cNvPr id="10" name="Content Placeholder 9">
            <a:extLst>
              <a:ext uri="{FF2B5EF4-FFF2-40B4-BE49-F238E27FC236}">
                <a16:creationId xmlns:a16="http://schemas.microsoft.com/office/drawing/2014/main" id="{C8851B8E-8A23-DC76-293B-BEA7754084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8865" y="952437"/>
            <a:ext cx="5694762" cy="50016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20B686E4-74A2-1CF3-3184-7D7972701C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2748" y="952437"/>
            <a:ext cx="3665949" cy="50016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63585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5179-7ECA-E2F3-5700-984E55E3A2B7}"/>
              </a:ext>
            </a:extLst>
          </p:cNvPr>
          <p:cNvSpPr>
            <a:spLocks noGrp="1"/>
          </p:cNvSpPr>
          <p:nvPr>
            <p:ph type="title"/>
          </p:nvPr>
        </p:nvSpPr>
        <p:spPr/>
        <p:txBody>
          <a:bodyPr>
            <a:normAutofit/>
          </a:bodyPr>
          <a:lstStyle/>
          <a:p>
            <a:r>
              <a:rPr lang="en-IN" dirty="0"/>
              <a:t>Feature Relationship Analysis</a:t>
            </a:r>
          </a:p>
        </p:txBody>
      </p:sp>
      <p:sp>
        <p:nvSpPr>
          <p:cNvPr id="3" name="Content Placeholder 2">
            <a:extLst>
              <a:ext uri="{FF2B5EF4-FFF2-40B4-BE49-F238E27FC236}">
                <a16:creationId xmlns:a16="http://schemas.microsoft.com/office/drawing/2014/main" id="{B616A142-A48B-528A-B3F6-628748006466}"/>
              </a:ext>
            </a:extLst>
          </p:cNvPr>
          <p:cNvSpPr>
            <a:spLocks noGrp="1"/>
          </p:cNvSpPr>
          <p:nvPr>
            <p:ph sz="half" idx="1"/>
          </p:nvPr>
        </p:nvSpPr>
        <p:spPr/>
        <p:txBody>
          <a:bodyPr>
            <a:noAutofit/>
          </a:bodyPr>
          <a:lstStyle/>
          <a:p>
            <a:pPr>
              <a:lnSpc>
                <a:spcPct val="170000"/>
              </a:lnSpc>
            </a:pPr>
            <a:r>
              <a:rPr lang="en-US" sz="1700" dirty="0"/>
              <a:t>Feature-to-target relationships </a:t>
            </a:r>
            <a:r>
              <a:rPr lang="en-US" sz="1700" dirty="0" err="1"/>
              <a:t>analysed</a:t>
            </a:r>
            <a:r>
              <a:rPr lang="en-US" sz="1700" dirty="0"/>
              <a:t> using boxplots</a:t>
            </a:r>
          </a:p>
          <a:p>
            <a:pPr>
              <a:lnSpc>
                <a:spcPct val="170000"/>
              </a:lnSpc>
            </a:pPr>
            <a:r>
              <a:rPr lang="en-US" sz="1700" dirty="0"/>
              <a:t>Employees with higher training hours show a higher job-change tendency</a:t>
            </a:r>
          </a:p>
          <a:p>
            <a:pPr>
              <a:lnSpc>
                <a:spcPct val="170000"/>
              </a:lnSpc>
            </a:pPr>
            <a:r>
              <a:rPr lang="en-US" sz="1700" dirty="0"/>
              <a:t>City development index shows variation across target classes</a:t>
            </a:r>
          </a:p>
          <a:p>
            <a:pPr>
              <a:lnSpc>
                <a:spcPct val="170000"/>
              </a:lnSpc>
            </a:pPr>
            <a:r>
              <a:rPr lang="en-US" sz="1700" dirty="0"/>
              <a:t>Correlation analysis shows no strong linear relationships</a:t>
            </a:r>
          </a:p>
          <a:p>
            <a:pPr>
              <a:lnSpc>
                <a:spcPct val="170000"/>
              </a:lnSpc>
            </a:pPr>
            <a:r>
              <a:rPr lang="en-US" sz="1700" b="1" dirty="0"/>
              <a:t>Conclusion:</a:t>
            </a:r>
            <a:br>
              <a:rPr lang="en-US" sz="1700" dirty="0"/>
            </a:br>
            <a:r>
              <a:rPr lang="en-US" sz="1700" dirty="0"/>
              <a:t>Tree-based models are suitable for capturing non-linear relationships.</a:t>
            </a:r>
          </a:p>
        </p:txBody>
      </p:sp>
      <p:pic>
        <p:nvPicPr>
          <p:cNvPr id="9" name="Content Placeholder 8">
            <a:extLst>
              <a:ext uri="{FF2B5EF4-FFF2-40B4-BE49-F238E27FC236}">
                <a16:creationId xmlns:a16="http://schemas.microsoft.com/office/drawing/2014/main" id="{A774570D-1032-3984-5861-5C52C958F46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01409" y="1659835"/>
            <a:ext cx="5340350" cy="416449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81928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C434-25C7-3D73-4C79-56E4A6654476}"/>
              </a:ext>
            </a:extLst>
          </p:cNvPr>
          <p:cNvSpPr>
            <a:spLocks noGrp="1"/>
          </p:cNvSpPr>
          <p:nvPr>
            <p:ph type="title"/>
          </p:nvPr>
        </p:nvSpPr>
        <p:spPr/>
        <p:txBody>
          <a:bodyPr>
            <a:normAutofit/>
          </a:bodyPr>
          <a:lstStyle/>
          <a:p>
            <a:r>
              <a:rPr lang="en-IN" dirty="0"/>
              <a:t>Data Preprocessing</a:t>
            </a:r>
          </a:p>
        </p:txBody>
      </p:sp>
      <p:sp>
        <p:nvSpPr>
          <p:cNvPr id="3" name="Content Placeholder 2">
            <a:extLst>
              <a:ext uri="{FF2B5EF4-FFF2-40B4-BE49-F238E27FC236}">
                <a16:creationId xmlns:a16="http://schemas.microsoft.com/office/drawing/2014/main" id="{8DAF9FDB-D474-4D0F-EA2F-31F215CF6A61}"/>
              </a:ext>
            </a:extLst>
          </p:cNvPr>
          <p:cNvSpPr>
            <a:spLocks noGrp="1"/>
          </p:cNvSpPr>
          <p:nvPr>
            <p:ph idx="1"/>
          </p:nvPr>
        </p:nvSpPr>
        <p:spPr>
          <a:xfrm>
            <a:off x="678884" y="1525988"/>
            <a:ext cx="8852742" cy="4398066"/>
          </a:xfrm>
        </p:spPr>
        <p:txBody>
          <a:bodyPr>
            <a:normAutofit fontScale="92500" lnSpcReduction="20000"/>
          </a:bodyPr>
          <a:lstStyle/>
          <a:p>
            <a:pPr>
              <a:lnSpc>
                <a:spcPct val="150000"/>
              </a:lnSpc>
            </a:pPr>
            <a:r>
              <a:rPr lang="en-IN" dirty="0"/>
              <a:t>Missing values handled appropriately for categorical features</a:t>
            </a:r>
          </a:p>
          <a:p>
            <a:pPr>
              <a:lnSpc>
                <a:spcPct val="150000"/>
              </a:lnSpc>
            </a:pPr>
            <a:r>
              <a:rPr lang="en-IN" dirty="0"/>
              <a:t>Categorical variables encoded using Label Encoding</a:t>
            </a:r>
          </a:p>
          <a:p>
            <a:pPr>
              <a:lnSpc>
                <a:spcPct val="150000"/>
              </a:lnSpc>
            </a:pPr>
            <a:r>
              <a:rPr lang="en-IN" dirty="0"/>
              <a:t>Feature-target split performed</a:t>
            </a:r>
          </a:p>
          <a:p>
            <a:pPr>
              <a:lnSpc>
                <a:spcPct val="150000"/>
              </a:lnSpc>
            </a:pPr>
            <a:r>
              <a:rPr lang="en-IN" dirty="0"/>
              <a:t>Stratified train–validation split applied to preserve class distribution</a:t>
            </a:r>
          </a:p>
          <a:p>
            <a:pPr marL="0" indent="0">
              <a:lnSpc>
                <a:spcPct val="150000"/>
              </a:lnSpc>
              <a:buNone/>
            </a:pPr>
            <a:r>
              <a:rPr lang="en-IN" b="1" dirty="0"/>
              <a:t>Outcome:</a:t>
            </a:r>
            <a:br>
              <a:rPr lang="en-IN" dirty="0"/>
            </a:br>
            <a:r>
              <a:rPr lang="en-IN" dirty="0"/>
              <a:t>Clean and model-ready dataset prepared for training.</a:t>
            </a:r>
          </a:p>
        </p:txBody>
      </p:sp>
    </p:spTree>
    <p:extLst>
      <p:ext uri="{BB962C8B-B14F-4D97-AF65-F5344CB8AC3E}">
        <p14:creationId xmlns:p14="http://schemas.microsoft.com/office/powerpoint/2010/main" val="910556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0F23B-54C0-40C9-9690-1B3050AD56FC}"/>
              </a:ext>
            </a:extLst>
          </p:cNvPr>
          <p:cNvSpPr>
            <a:spLocks noGrp="1"/>
          </p:cNvSpPr>
          <p:nvPr>
            <p:ph type="title"/>
          </p:nvPr>
        </p:nvSpPr>
        <p:spPr/>
        <p:txBody>
          <a:bodyPr>
            <a:normAutofit/>
          </a:bodyPr>
          <a:lstStyle/>
          <a:p>
            <a:r>
              <a:rPr lang="en-IN" dirty="0"/>
              <a:t>Model Building Approach</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E65A01-6FCC-5394-16F8-2B00065DEA67}"/>
              </a:ext>
            </a:extLst>
          </p:cNvPr>
          <p:cNvSpPr>
            <a:spLocks noGrp="1"/>
          </p:cNvSpPr>
          <p:nvPr>
            <p:ph idx="1"/>
          </p:nvPr>
        </p:nvSpPr>
        <p:spPr/>
        <p:txBody>
          <a:bodyPr>
            <a:normAutofit lnSpcReduction="10000"/>
          </a:bodyPr>
          <a:lstStyle/>
          <a:p>
            <a:r>
              <a:rPr lang="en-IN" dirty="0"/>
              <a:t>Multiple classification models implemented to compare performance:</a:t>
            </a:r>
          </a:p>
          <a:p>
            <a:pPr lvl="1"/>
            <a:r>
              <a:rPr lang="en-IN" dirty="0"/>
              <a:t>Logistic Regression</a:t>
            </a:r>
          </a:p>
          <a:p>
            <a:pPr lvl="1"/>
            <a:r>
              <a:rPr lang="en-IN" dirty="0"/>
              <a:t>Random Forest</a:t>
            </a:r>
          </a:p>
          <a:p>
            <a:pPr lvl="1"/>
            <a:r>
              <a:rPr lang="en-IN" dirty="0" err="1"/>
              <a:t>XGBoost</a:t>
            </a:r>
            <a:endParaRPr lang="en-IN" dirty="0"/>
          </a:p>
          <a:p>
            <a:pPr lvl="1"/>
            <a:r>
              <a:rPr lang="en-IN" dirty="0" err="1"/>
              <a:t>LightGBM</a:t>
            </a:r>
            <a:endParaRPr lang="en-IN" dirty="0"/>
          </a:p>
          <a:p>
            <a:r>
              <a:rPr lang="en-IN" dirty="0"/>
              <a:t>Models chosen to represent:</a:t>
            </a:r>
          </a:p>
          <a:p>
            <a:pPr lvl="1"/>
            <a:r>
              <a:rPr lang="en-IN" dirty="0"/>
              <a:t>Linear methods</a:t>
            </a:r>
          </a:p>
          <a:p>
            <a:pPr lvl="1"/>
            <a:r>
              <a:rPr lang="en-IN" dirty="0"/>
              <a:t>Ensemble methods</a:t>
            </a:r>
          </a:p>
          <a:p>
            <a:pPr lvl="1"/>
            <a:r>
              <a:rPr lang="en-IN" dirty="0"/>
              <a:t>Boosting techniques</a:t>
            </a:r>
          </a:p>
          <a:p>
            <a:pPr marL="0" indent="0">
              <a:buNone/>
            </a:pPr>
            <a:r>
              <a:rPr lang="en-IN" b="1" dirty="0"/>
              <a:t>Reason:</a:t>
            </a:r>
            <a:br>
              <a:rPr lang="en-IN" dirty="0"/>
            </a:br>
            <a:r>
              <a:rPr lang="en-IN" dirty="0"/>
              <a:t>To identify the most effective model for structured HR data.</a:t>
            </a:r>
          </a:p>
        </p:txBody>
      </p:sp>
    </p:spTree>
    <p:extLst>
      <p:ext uri="{BB962C8B-B14F-4D97-AF65-F5344CB8AC3E}">
        <p14:creationId xmlns:p14="http://schemas.microsoft.com/office/powerpoint/2010/main" val="582586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D4EA-3FEE-921F-9A4C-C34BBB3D1D2B}"/>
              </a:ext>
            </a:extLst>
          </p:cNvPr>
          <p:cNvSpPr>
            <a:spLocks noGrp="1"/>
          </p:cNvSpPr>
          <p:nvPr>
            <p:ph type="title"/>
          </p:nvPr>
        </p:nvSpPr>
        <p:spPr/>
        <p:txBody>
          <a:bodyPr>
            <a:normAutofit/>
          </a:bodyPr>
          <a:lstStyle/>
          <a:p>
            <a:r>
              <a:rPr lang="en-IN" dirty="0"/>
              <a:t>Model Performance Comparison</a:t>
            </a:r>
          </a:p>
        </p:txBody>
      </p:sp>
      <p:sp>
        <p:nvSpPr>
          <p:cNvPr id="7" name="Content Placeholder 6">
            <a:extLst>
              <a:ext uri="{FF2B5EF4-FFF2-40B4-BE49-F238E27FC236}">
                <a16:creationId xmlns:a16="http://schemas.microsoft.com/office/drawing/2014/main" id="{9D771AE7-CF7B-F4EE-A8C1-76ADE22836CB}"/>
              </a:ext>
            </a:extLst>
          </p:cNvPr>
          <p:cNvSpPr>
            <a:spLocks noGrp="1"/>
          </p:cNvSpPr>
          <p:nvPr>
            <p:ph sz="half" idx="1"/>
          </p:nvPr>
        </p:nvSpPr>
        <p:spPr/>
        <p:txBody>
          <a:bodyPr>
            <a:normAutofit fontScale="85000" lnSpcReduction="10000"/>
          </a:bodyPr>
          <a:lstStyle/>
          <a:p>
            <a:pPr lvl="0" eaLnBrk="0" fontAlgn="base" hangingPunct="0">
              <a:lnSpc>
                <a:spcPct val="150000"/>
              </a:lnSpc>
              <a:spcBef>
                <a:spcPct val="0"/>
              </a:spcBef>
              <a:spcAft>
                <a:spcPct val="0"/>
              </a:spcAft>
            </a:pPr>
            <a:r>
              <a:rPr lang="en-US" altLang="en-US" dirty="0">
                <a:solidFill>
                  <a:schemeClr val="tx1"/>
                </a:solidFill>
                <a:ea typeface="Calibri" panose="020F0502020204030204" pitchFamily="34" charset="0"/>
                <a:cs typeface="Calibri" panose="020F0502020204030204" pitchFamily="34" charset="0"/>
              </a:rPr>
              <a:t>Logistic Regression struggled with minority class prediction</a:t>
            </a:r>
          </a:p>
          <a:p>
            <a:pPr lvl="0" eaLnBrk="0" fontAlgn="base" hangingPunct="0">
              <a:lnSpc>
                <a:spcPct val="150000"/>
              </a:lnSpc>
              <a:spcBef>
                <a:spcPct val="0"/>
              </a:spcBef>
              <a:spcAft>
                <a:spcPct val="0"/>
              </a:spcAft>
            </a:pPr>
            <a:r>
              <a:rPr lang="en-US" altLang="en-US" dirty="0">
                <a:solidFill>
                  <a:schemeClr val="tx1"/>
                </a:solidFill>
                <a:ea typeface="Calibri" panose="020F0502020204030204" pitchFamily="34" charset="0"/>
                <a:cs typeface="Calibri" panose="020F0502020204030204" pitchFamily="34" charset="0"/>
              </a:rPr>
              <a:t>Random Forest showed improvement but limited recall</a:t>
            </a:r>
          </a:p>
          <a:p>
            <a:pPr lvl="0" eaLnBrk="0" fontAlgn="base" hangingPunct="0">
              <a:lnSpc>
                <a:spcPct val="150000"/>
              </a:lnSpc>
              <a:spcBef>
                <a:spcPct val="0"/>
              </a:spcBef>
              <a:spcAft>
                <a:spcPct val="0"/>
              </a:spcAft>
            </a:pPr>
            <a:r>
              <a:rPr lang="en-US" altLang="en-US" dirty="0">
                <a:solidFill>
                  <a:schemeClr val="tx1"/>
                </a:solidFill>
                <a:ea typeface="Calibri" panose="020F0502020204030204" pitchFamily="34" charset="0"/>
                <a:cs typeface="Calibri" panose="020F0502020204030204" pitchFamily="34" charset="0"/>
              </a:rPr>
              <a:t>Boosting models (</a:t>
            </a:r>
            <a:r>
              <a:rPr lang="en-US" altLang="en-US" dirty="0" err="1">
                <a:solidFill>
                  <a:schemeClr val="tx1"/>
                </a:solidFill>
                <a:ea typeface="Calibri" panose="020F0502020204030204" pitchFamily="34" charset="0"/>
                <a:cs typeface="Calibri" panose="020F0502020204030204" pitchFamily="34" charset="0"/>
              </a:rPr>
              <a:t>XGBoost</a:t>
            </a:r>
            <a:r>
              <a:rPr lang="en-US" altLang="en-US" dirty="0">
                <a:solidFill>
                  <a:schemeClr val="tx1"/>
                </a:solidFill>
                <a:ea typeface="Calibri" panose="020F0502020204030204" pitchFamily="34" charset="0"/>
                <a:cs typeface="Calibri" panose="020F0502020204030204" pitchFamily="34" charset="0"/>
              </a:rPr>
              <a:t> &amp; </a:t>
            </a:r>
            <a:r>
              <a:rPr lang="en-US" altLang="en-US" dirty="0" err="1">
                <a:solidFill>
                  <a:schemeClr val="tx1"/>
                </a:solidFill>
                <a:ea typeface="Calibri" panose="020F0502020204030204" pitchFamily="34" charset="0"/>
                <a:cs typeface="Calibri" panose="020F0502020204030204" pitchFamily="34" charset="0"/>
              </a:rPr>
              <a:t>LightGBM</a:t>
            </a:r>
            <a:r>
              <a:rPr lang="en-US" altLang="en-US" dirty="0">
                <a:solidFill>
                  <a:schemeClr val="tx1"/>
                </a:solidFill>
                <a:ea typeface="Calibri" panose="020F0502020204030204" pitchFamily="34" charset="0"/>
                <a:cs typeface="Calibri" panose="020F0502020204030204" pitchFamily="34" charset="0"/>
              </a:rPr>
              <a:t>) performed consistently better</a:t>
            </a:r>
          </a:p>
          <a:p>
            <a:pPr lvl="0" eaLnBrk="0" fontAlgn="base" hangingPunct="0">
              <a:lnSpc>
                <a:spcPct val="150000"/>
              </a:lnSpc>
              <a:spcBef>
                <a:spcPct val="0"/>
              </a:spcBef>
              <a:spcAft>
                <a:spcPct val="0"/>
              </a:spcAft>
            </a:pPr>
            <a:r>
              <a:rPr lang="en-US" altLang="en-US" dirty="0" err="1">
                <a:solidFill>
                  <a:schemeClr val="tx1"/>
                </a:solidFill>
                <a:ea typeface="Calibri" panose="020F0502020204030204" pitchFamily="34" charset="0"/>
                <a:cs typeface="Calibri" panose="020F0502020204030204" pitchFamily="34" charset="0"/>
              </a:rPr>
              <a:t>LightGBM</a:t>
            </a:r>
            <a:r>
              <a:rPr lang="en-US" altLang="en-US" dirty="0">
                <a:solidFill>
                  <a:schemeClr val="tx1"/>
                </a:solidFill>
                <a:ea typeface="Calibri" panose="020F0502020204030204" pitchFamily="34" charset="0"/>
                <a:cs typeface="Calibri" panose="020F0502020204030204" pitchFamily="34" charset="0"/>
              </a:rPr>
              <a:t> achieved the highest overall F1-score</a:t>
            </a:r>
          </a:p>
          <a:p>
            <a:pPr>
              <a:lnSpc>
                <a:spcPct val="150000"/>
              </a:lnSpc>
            </a:pPr>
            <a:endParaRPr lang="en-IN" dirty="0">
              <a:ea typeface="Calibri" panose="020F0502020204030204" pitchFamily="34" charset="0"/>
              <a:cs typeface="Calibri" panose="020F0502020204030204" pitchFamily="34" charset="0"/>
            </a:endParaRPr>
          </a:p>
        </p:txBody>
      </p:sp>
      <p:pic>
        <p:nvPicPr>
          <p:cNvPr id="10" name="Content Placeholder 9">
            <a:extLst>
              <a:ext uri="{FF2B5EF4-FFF2-40B4-BE49-F238E27FC236}">
                <a16:creationId xmlns:a16="http://schemas.microsoft.com/office/drawing/2014/main" id="{38B91710-A057-238C-B1E7-CC982FD65ED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2028711"/>
            <a:ext cx="5608983" cy="29507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71454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4C06-DA06-7EAC-06C5-1D4180CBDB98}"/>
              </a:ext>
            </a:extLst>
          </p:cNvPr>
          <p:cNvSpPr>
            <a:spLocks noGrp="1"/>
          </p:cNvSpPr>
          <p:nvPr>
            <p:ph type="title"/>
          </p:nvPr>
        </p:nvSpPr>
        <p:spPr>
          <a:xfrm>
            <a:off x="678883" y="385005"/>
            <a:ext cx="10834233" cy="612775"/>
          </a:xfrm>
        </p:spPr>
        <p:txBody>
          <a:bodyPr>
            <a:normAutofit/>
          </a:bodyPr>
          <a:lstStyle/>
          <a:p>
            <a:r>
              <a:rPr lang="en-IN" dirty="0"/>
              <a:t>Hyperparameter Tuning</a:t>
            </a:r>
          </a:p>
        </p:txBody>
      </p:sp>
      <p:sp>
        <p:nvSpPr>
          <p:cNvPr id="3" name="Content Placeholder 2">
            <a:extLst>
              <a:ext uri="{FF2B5EF4-FFF2-40B4-BE49-F238E27FC236}">
                <a16:creationId xmlns:a16="http://schemas.microsoft.com/office/drawing/2014/main" id="{55D7E298-C655-D24A-6430-BEB677529DD9}"/>
              </a:ext>
            </a:extLst>
          </p:cNvPr>
          <p:cNvSpPr>
            <a:spLocks noGrp="1"/>
          </p:cNvSpPr>
          <p:nvPr>
            <p:ph sz="half" idx="1"/>
          </p:nvPr>
        </p:nvSpPr>
        <p:spPr>
          <a:xfrm>
            <a:off x="678881" y="1351722"/>
            <a:ext cx="5340919" cy="4399442"/>
          </a:xfrm>
        </p:spPr>
        <p:txBody>
          <a:bodyPr>
            <a:noAutofit/>
          </a:bodyPr>
          <a:lstStyle/>
          <a:p>
            <a:pPr>
              <a:lnSpc>
                <a:spcPct val="150000"/>
              </a:lnSpc>
            </a:pPr>
            <a:r>
              <a:rPr lang="en-IN" sz="2000" dirty="0"/>
              <a:t>Hyperparameter tuning performed using </a:t>
            </a:r>
            <a:r>
              <a:rPr lang="en-IN" sz="2000" dirty="0" err="1"/>
              <a:t>RandomizedSearchCV</a:t>
            </a:r>
            <a:r>
              <a:rPr lang="en-IN" sz="2000" dirty="0"/>
              <a:t> on </a:t>
            </a:r>
            <a:r>
              <a:rPr lang="en-IN" sz="2000" dirty="0" err="1"/>
              <a:t>XGBoost</a:t>
            </a:r>
            <a:endParaRPr lang="en-IN" sz="2000" dirty="0"/>
          </a:p>
          <a:p>
            <a:pPr>
              <a:lnSpc>
                <a:spcPct val="150000"/>
              </a:lnSpc>
            </a:pPr>
            <a:r>
              <a:rPr lang="en-IN" sz="2000" dirty="0"/>
              <a:t>Optimization focused on F1-score due to class imbalance</a:t>
            </a:r>
          </a:p>
          <a:p>
            <a:pPr>
              <a:lnSpc>
                <a:spcPct val="150000"/>
              </a:lnSpc>
            </a:pPr>
            <a:r>
              <a:rPr lang="en-IN" sz="2000" dirty="0"/>
              <a:t>Tuned model showed improved balance between precision and recall</a:t>
            </a:r>
          </a:p>
          <a:p>
            <a:pPr marL="0" indent="0">
              <a:lnSpc>
                <a:spcPct val="150000"/>
              </a:lnSpc>
              <a:buNone/>
            </a:pPr>
            <a:r>
              <a:rPr lang="en-IN" sz="2000" b="1" dirty="0"/>
              <a:t>Result:</a:t>
            </a:r>
            <a:br>
              <a:rPr lang="en-IN" sz="2000" dirty="0"/>
            </a:br>
            <a:r>
              <a:rPr lang="en-IN" sz="2000" dirty="0"/>
              <a:t>More stable and generalised </a:t>
            </a:r>
            <a:r>
              <a:rPr lang="en-IN" sz="2000" dirty="0" err="1"/>
              <a:t>XGBoost</a:t>
            </a:r>
            <a:r>
              <a:rPr lang="en-IN" sz="2000" dirty="0"/>
              <a:t> model.</a:t>
            </a:r>
          </a:p>
        </p:txBody>
      </p:sp>
      <p:pic>
        <p:nvPicPr>
          <p:cNvPr id="6" name="Content Placeholder 5">
            <a:extLst>
              <a:ext uri="{FF2B5EF4-FFF2-40B4-BE49-F238E27FC236}">
                <a16:creationId xmlns:a16="http://schemas.microsoft.com/office/drawing/2014/main" id="{5298ECD9-ADB6-BD75-780F-EAD67630691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70985" y="795820"/>
            <a:ext cx="4842559" cy="48806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44198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7D22-78EB-B5C6-D467-1CCEB220EB15}"/>
              </a:ext>
            </a:extLst>
          </p:cNvPr>
          <p:cNvSpPr>
            <a:spLocks noGrp="1"/>
          </p:cNvSpPr>
          <p:nvPr>
            <p:ph type="title"/>
          </p:nvPr>
        </p:nvSpPr>
        <p:spPr/>
        <p:txBody>
          <a:bodyPr>
            <a:normAutofit/>
          </a:bodyPr>
          <a:lstStyle/>
          <a:p>
            <a:r>
              <a:rPr lang="en-IN" dirty="0"/>
              <a:t>Handling Class Imbalance (SMOTE)</a:t>
            </a:r>
            <a:endParaRPr lang="en-IN"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ADCE1BB-EA41-2323-E1DF-3D3E70A707E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27968" y="1750581"/>
            <a:ext cx="4889310" cy="4004176"/>
          </a:xfrm>
        </p:spPr>
      </p:pic>
      <p:sp>
        <p:nvSpPr>
          <p:cNvPr id="6" name="Content Placeholder 5">
            <a:extLst>
              <a:ext uri="{FF2B5EF4-FFF2-40B4-BE49-F238E27FC236}">
                <a16:creationId xmlns:a16="http://schemas.microsoft.com/office/drawing/2014/main" id="{1BC8D73D-2BA2-E8AE-8819-0B945C92564B}"/>
              </a:ext>
            </a:extLst>
          </p:cNvPr>
          <p:cNvSpPr>
            <a:spLocks noGrp="1"/>
          </p:cNvSpPr>
          <p:nvPr>
            <p:ph sz="half" idx="2"/>
          </p:nvPr>
        </p:nvSpPr>
        <p:spPr/>
        <p:txBody>
          <a:bodyPr>
            <a:normAutofit/>
          </a:bodyPr>
          <a:lstStyle/>
          <a:p>
            <a:pPr marL="0" indent="0">
              <a:buNone/>
            </a:pPr>
            <a:r>
              <a:rPr lang="en-US" dirty="0" err="1"/>
              <a:t>RandomizedSearchCV</a:t>
            </a:r>
            <a:r>
              <a:rPr lang="en-US" dirty="0"/>
              <a:t> was applied to </a:t>
            </a:r>
            <a:r>
              <a:rPr lang="en-US" dirty="0" err="1"/>
              <a:t>optimise</a:t>
            </a:r>
            <a:r>
              <a:rPr lang="en-US" dirty="0"/>
              <a:t>:</a:t>
            </a:r>
          </a:p>
          <a:p>
            <a:r>
              <a:rPr lang="en-US" dirty="0"/>
              <a:t>Number of estimators</a:t>
            </a:r>
          </a:p>
          <a:p>
            <a:r>
              <a:rPr lang="en-US" dirty="0"/>
              <a:t>Tree depth</a:t>
            </a:r>
          </a:p>
          <a:p>
            <a:r>
              <a:rPr lang="en-US" dirty="0"/>
              <a:t>Learning rate</a:t>
            </a:r>
          </a:p>
          <a:p>
            <a:r>
              <a:rPr lang="en-US" dirty="0"/>
              <a:t>Sampling parameters</a:t>
            </a:r>
          </a:p>
          <a:p>
            <a:pPr marL="0" indent="0">
              <a:buNone/>
            </a:pPr>
            <a:r>
              <a:rPr lang="en-US" b="1" dirty="0"/>
              <a:t>Goal:</a:t>
            </a:r>
            <a:br>
              <a:rPr lang="en-US" dirty="0"/>
            </a:br>
            <a:r>
              <a:rPr lang="en-US" dirty="0"/>
              <a:t>Improve generalization and reduce overfitting.</a:t>
            </a:r>
          </a:p>
          <a:p>
            <a:endParaRPr lang="en-IN" dirty="0"/>
          </a:p>
        </p:txBody>
      </p:sp>
    </p:spTree>
    <p:extLst>
      <p:ext uri="{BB962C8B-B14F-4D97-AF65-F5344CB8AC3E}">
        <p14:creationId xmlns:p14="http://schemas.microsoft.com/office/powerpoint/2010/main" val="1139783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5896-03A6-A2FF-46B5-E08911F5E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4C397-2F27-D2DF-CB1E-071C3160440A}"/>
              </a:ext>
            </a:extLst>
          </p:cNvPr>
          <p:cNvSpPr>
            <a:spLocks noGrp="1"/>
          </p:cNvSpPr>
          <p:nvPr>
            <p:ph type="title"/>
          </p:nvPr>
        </p:nvSpPr>
        <p:spPr/>
        <p:txBody>
          <a:bodyPr>
            <a:normAutofit/>
          </a:bodyPr>
          <a:lstStyle/>
          <a:p>
            <a:r>
              <a:rPr lang="en-IN" dirty="0"/>
              <a:t>Final Model Selection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512A6D-5B63-A470-0158-83CA8D893717}"/>
              </a:ext>
            </a:extLst>
          </p:cNvPr>
          <p:cNvSpPr>
            <a:spLocks noGrp="1"/>
          </p:cNvSpPr>
          <p:nvPr>
            <p:ph sz="half" idx="1"/>
          </p:nvPr>
        </p:nvSpPr>
        <p:spPr/>
        <p:txBody>
          <a:bodyPr>
            <a:normAutofit fontScale="47500" lnSpcReduction="20000"/>
          </a:bodyPr>
          <a:lstStyle/>
          <a:p>
            <a:pPr marL="0" indent="0">
              <a:lnSpc>
                <a:spcPct val="170000"/>
              </a:lnSpc>
              <a:buNone/>
            </a:pPr>
            <a:r>
              <a:rPr lang="en-US" b="1" dirty="0"/>
              <a:t>SMOTE Impact &amp; Final Model Selection</a:t>
            </a:r>
          </a:p>
          <a:p>
            <a:pPr>
              <a:lnSpc>
                <a:spcPct val="170000"/>
              </a:lnSpc>
            </a:pPr>
            <a:r>
              <a:rPr lang="en-US" dirty="0"/>
              <a:t>SMOTE increased recall for job-change class</a:t>
            </a:r>
          </a:p>
          <a:p>
            <a:pPr>
              <a:lnSpc>
                <a:spcPct val="170000"/>
              </a:lnSpc>
            </a:pPr>
            <a:r>
              <a:rPr lang="en-US" sz="2900" dirty="0"/>
              <a:t>Precision</a:t>
            </a:r>
            <a:r>
              <a:rPr lang="en-US" dirty="0"/>
              <a:t> decreased due to higher false positives</a:t>
            </a:r>
          </a:p>
          <a:p>
            <a:pPr>
              <a:lnSpc>
                <a:spcPct val="170000"/>
              </a:lnSpc>
            </a:pPr>
            <a:r>
              <a:rPr lang="en-US" dirty="0"/>
              <a:t>In HR analytics, false positives can lead to unnecessary interventions</a:t>
            </a:r>
          </a:p>
          <a:p>
            <a:pPr marL="0" indent="0">
              <a:lnSpc>
                <a:spcPct val="170000"/>
              </a:lnSpc>
              <a:buNone/>
            </a:pPr>
            <a:r>
              <a:rPr lang="en-US" b="1" dirty="0"/>
              <a:t>Final Model Selected:</a:t>
            </a:r>
          </a:p>
          <a:p>
            <a:pPr marL="0" indent="0">
              <a:lnSpc>
                <a:spcPct val="170000"/>
              </a:lnSpc>
              <a:buNone/>
            </a:pPr>
            <a:r>
              <a:rPr lang="en-US" b="1" dirty="0"/>
              <a:t>Tuned </a:t>
            </a:r>
            <a:r>
              <a:rPr lang="en-US" b="1" dirty="0" err="1"/>
              <a:t>XGBoost</a:t>
            </a:r>
            <a:r>
              <a:rPr lang="en-US" b="1" dirty="0"/>
              <a:t> (Without SMOTE)</a:t>
            </a:r>
            <a:endParaRPr lang="en-US" dirty="0"/>
          </a:p>
          <a:p>
            <a:pPr marL="0" indent="0">
              <a:lnSpc>
                <a:spcPct val="170000"/>
              </a:lnSpc>
              <a:buNone/>
            </a:pPr>
            <a:r>
              <a:rPr lang="en-US" b="1" dirty="0"/>
              <a:t>Reason:</a:t>
            </a:r>
            <a:endParaRPr lang="en-US" dirty="0"/>
          </a:p>
          <a:p>
            <a:pPr>
              <a:lnSpc>
                <a:spcPct val="170000"/>
              </a:lnSpc>
            </a:pPr>
            <a:r>
              <a:rPr lang="en-US" dirty="0"/>
              <a:t>Better balance between precision and recall</a:t>
            </a:r>
          </a:p>
          <a:p>
            <a:pPr>
              <a:lnSpc>
                <a:spcPct val="170000"/>
              </a:lnSpc>
            </a:pPr>
            <a:r>
              <a:rPr lang="en-US" dirty="0"/>
              <a:t>More reliable predictions</a:t>
            </a:r>
          </a:p>
          <a:p>
            <a:pPr>
              <a:lnSpc>
                <a:spcPct val="170000"/>
              </a:lnSpc>
            </a:pPr>
            <a:r>
              <a:rPr lang="en-US" dirty="0"/>
              <a:t>Avoids overestimation of job-change risk</a:t>
            </a:r>
          </a:p>
        </p:txBody>
      </p:sp>
      <p:pic>
        <p:nvPicPr>
          <p:cNvPr id="6" name="Content Placeholder 5">
            <a:extLst>
              <a:ext uri="{FF2B5EF4-FFF2-40B4-BE49-F238E27FC236}">
                <a16:creationId xmlns:a16="http://schemas.microsoft.com/office/drawing/2014/main" id="{9DBB68B3-1C04-7DA0-3600-80DDBF2629E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564311"/>
            <a:ext cx="5731826" cy="3981724"/>
          </a:xfrm>
        </p:spPr>
      </p:pic>
    </p:spTree>
    <p:extLst>
      <p:ext uri="{BB962C8B-B14F-4D97-AF65-F5344CB8AC3E}">
        <p14:creationId xmlns:p14="http://schemas.microsoft.com/office/powerpoint/2010/main" val="4108038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A4100-B729-AD3E-3213-A457F5168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F0F4B-15C8-68B6-5722-263EFC461FCF}"/>
              </a:ext>
            </a:extLst>
          </p:cNvPr>
          <p:cNvSpPr>
            <a:spLocks noGrp="1"/>
          </p:cNvSpPr>
          <p:nvPr>
            <p:ph type="title"/>
          </p:nvPr>
        </p:nvSpPr>
        <p:spPr/>
        <p:txBody>
          <a:bodyPr>
            <a:normAutofit/>
          </a:bodyPr>
          <a:lstStyle/>
          <a:p>
            <a:r>
              <a:rPr lang="en-IN" dirty="0"/>
              <a:t>Conclusion &amp; 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80C1E6-3AA6-20FA-B38A-20FA5F02ED19}"/>
              </a:ext>
            </a:extLst>
          </p:cNvPr>
          <p:cNvSpPr>
            <a:spLocks noGrp="1"/>
          </p:cNvSpPr>
          <p:nvPr>
            <p:ph idx="1"/>
          </p:nvPr>
        </p:nvSpPr>
        <p:spPr>
          <a:xfrm>
            <a:off x="678884" y="1229967"/>
            <a:ext cx="10834234" cy="4398066"/>
          </a:xfrm>
        </p:spPr>
        <p:txBody>
          <a:bodyPr>
            <a:noAutofit/>
          </a:bodyPr>
          <a:lstStyle/>
          <a:p>
            <a:pPr marL="0" indent="0">
              <a:lnSpc>
                <a:spcPct val="170000"/>
              </a:lnSpc>
              <a:buNone/>
            </a:pPr>
            <a:r>
              <a:rPr lang="en-US" sz="1600" b="1" dirty="0"/>
              <a:t>Conclusion</a:t>
            </a:r>
          </a:p>
          <a:p>
            <a:pPr>
              <a:lnSpc>
                <a:spcPct val="170000"/>
              </a:lnSpc>
            </a:pPr>
            <a:r>
              <a:rPr lang="en-US" sz="1600" dirty="0"/>
              <a:t>End-to-end machine learning pipeline successfully implemented</a:t>
            </a:r>
          </a:p>
          <a:p>
            <a:pPr>
              <a:lnSpc>
                <a:spcPct val="170000"/>
              </a:lnSpc>
            </a:pPr>
            <a:r>
              <a:rPr lang="en-US" sz="1600" dirty="0"/>
              <a:t>Boosting-based models outperformed traditional models</a:t>
            </a:r>
          </a:p>
          <a:p>
            <a:pPr>
              <a:lnSpc>
                <a:spcPct val="170000"/>
              </a:lnSpc>
            </a:pPr>
            <a:r>
              <a:rPr lang="en-US" sz="1600" dirty="0"/>
              <a:t>Class imbalance handled carefully using SMOTE experiments</a:t>
            </a:r>
          </a:p>
          <a:p>
            <a:pPr>
              <a:lnSpc>
                <a:spcPct val="170000"/>
              </a:lnSpc>
            </a:pPr>
            <a:r>
              <a:rPr lang="en-US" sz="1600" dirty="0"/>
              <a:t>Tuned </a:t>
            </a:r>
            <a:r>
              <a:rPr lang="en-US" sz="1600" dirty="0" err="1"/>
              <a:t>XGBoost</a:t>
            </a:r>
            <a:r>
              <a:rPr lang="en-US" sz="1600" dirty="0"/>
              <a:t> without SMOTE selected as final model</a:t>
            </a:r>
          </a:p>
          <a:p>
            <a:pPr marL="0" indent="0">
              <a:lnSpc>
                <a:spcPct val="170000"/>
              </a:lnSpc>
              <a:buNone/>
            </a:pPr>
            <a:r>
              <a:rPr lang="en-US" sz="1600" b="1" dirty="0"/>
              <a:t>Future Scope</a:t>
            </a:r>
          </a:p>
          <a:p>
            <a:pPr>
              <a:lnSpc>
                <a:spcPct val="170000"/>
              </a:lnSpc>
            </a:pPr>
            <a:r>
              <a:rPr lang="en-US" sz="1600" dirty="0"/>
              <a:t>Retrain model after removing identifier features</a:t>
            </a:r>
          </a:p>
          <a:p>
            <a:pPr>
              <a:lnSpc>
                <a:spcPct val="170000"/>
              </a:lnSpc>
            </a:pPr>
            <a:r>
              <a:rPr lang="en-US" sz="1600" dirty="0"/>
              <a:t>Add model explainability using SHAP</a:t>
            </a:r>
          </a:p>
          <a:p>
            <a:pPr>
              <a:lnSpc>
                <a:spcPct val="170000"/>
              </a:lnSpc>
            </a:pPr>
            <a:r>
              <a:rPr lang="en-US" sz="1600" dirty="0"/>
              <a:t>Deploy as a full-scale HR decision-support system</a:t>
            </a:r>
          </a:p>
        </p:txBody>
      </p:sp>
    </p:spTree>
    <p:extLst>
      <p:ext uri="{BB962C8B-B14F-4D97-AF65-F5344CB8AC3E}">
        <p14:creationId xmlns:p14="http://schemas.microsoft.com/office/powerpoint/2010/main" val="2414191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E1C3-DCF7-5E3E-65C2-962783FC94F0}"/>
              </a:ext>
            </a:extLst>
          </p:cNvPr>
          <p:cNvSpPr>
            <a:spLocks noGrp="1"/>
          </p:cNvSpPr>
          <p:nvPr>
            <p:ph type="title"/>
          </p:nvPr>
        </p:nvSpPr>
        <p:spPr/>
        <p:txBody>
          <a:bodyPr/>
          <a:lstStyle/>
          <a:p>
            <a:r>
              <a:rPr lang="en-IN" dirty="0" err="1"/>
              <a:t>Streamlit</a:t>
            </a:r>
            <a:r>
              <a:rPr lang="en-IN" dirty="0"/>
              <a:t> UI</a:t>
            </a:r>
          </a:p>
        </p:txBody>
      </p:sp>
      <p:pic>
        <p:nvPicPr>
          <p:cNvPr id="10" name="Content Placeholder 9">
            <a:extLst>
              <a:ext uri="{FF2B5EF4-FFF2-40B4-BE49-F238E27FC236}">
                <a16:creationId xmlns:a16="http://schemas.microsoft.com/office/drawing/2014/main" id="{94F93C37-ADD5-A629-1C85-63AA510FA82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90607" y="1646893"/>
            <a:ext cx="5340350" cy="3839507"/>
          </a:xfrm>
        </p:spPr>
      </p:pic>
      <p:pic>
        <p:nvPicPr>
          <p:cNvPr id="12" name="Content Placeholder 11">
            <a:extLst>
              <a:ext uri="{FF2B5EF4-FFF2-40B4-BE49-F238E27FC236}">
                <a16:creationId xmlns:a16="http://schemas.microsoft.com/office/drawing/2014/main" id="{DF866529-3E6B-7378-7173-F147DB366FD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23102" y="603666"/>
            <a:ext cx="4599479" cy="5237231"/>
          </a:xfrm>
        </p:spPr>
      </p:pic>
    </p:spTree>
    <p:extLst>
      <p:ext uri="{BB962C8B-B14F-4D97-AF65-F5344CB8AC3E}">
        <p14:creationId xmlns:p14="http://schemas.microsoft.com/office/powerpoint/2010/main" val="1862491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C56C-B12A-3929-B4D9-6FE36DD0FFAF}"/>
              </a:ext>
            </a:extLst>
          </p:cNvPr>
          <p:cNvSpPr>
            <a:spLocks noGrp="1"/>
          </p:cNvSpPr>
          <p:nvPr>
            <p:ph type="title"/>
          </p:nvPr>
        </p:nvSpPr>
        <p:spPr/>
        <p:txBody>
          <a:bodyPr>
            <a:normAutofit/>
          </a:bodyPr>
          <a:lstStyle/>
          <a:p>
            <a:r>
              <a:rPr lang="en-IN" sz="2800" dirty="0"/>
              <a:t>App Deployment Using </a:t>
            </a:r>
            <a:r>
              <a:rPr lang="en-IN" sz="2800" dirty="0" err="1"/>
              <a:t>Streamlit</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BD4A08-FA3C-E7D6-819C-BBB7D0340026}"/>
              </a:ext>
            </a:extLst>
          </p:cNvPr>
          <p:cNvSpPr>
            <a:spLocks noGrp="1"/>
          </p:cNvSpPr>
          <p:nvPr>
            <p:ph sz="half" idx="1"/>
          </p:nvPr>
        </p:nvSpPr>
        <p:spPr/>
        <p:txBody>
          <a:bodyPr>
            <a:normAutofit fontScale="55000" lnSpcReduction="20000"/>
          </a:bodyPr>
          <a:lstStyle/>
          <a:p>
            <a:r>
              <a:rPr lang="en-IN" b="1" dirty="0"/>
              <a:t>Technology Used</a:t>
            </a:r>
          </a:p>
          <a:p>
            <a:r>
              <a:rPr lang="en-IN" dirty="0" err="1"/>
              <a:t>Streamlit</a:t>
            </a:r>
            <a:r>
              <a:rPr lang="en-IN" dirty="0"/>
              <a:t> – Web application framework</a:t>
            </a:r>
          </a:p>
          <a:p>
            <a:r>
              <a:rPr lang="en-IN" dirty="0"/>
              <a:t>Python – Backend logic</a:t>
            </a:r>
          </a:p>
          <a:p>
            <a:r>
              <a:rPr lang="en-IN" dirty="0" err="1"/>
              <a:t>XGBoost</a:t>
            </a:r>
            <a:r>
              <a:rPr lang="en-IN" dirty="0"/>
              <a:t> – Final trained model</a:t>
            </a:r>
          </a:p>
          <a:p>
            <a:r>
              <a:rPr lang="en-IN" dirty="0"/>
              <a:t>Scikit-learn – Preprocessing utilities</a:t>
            </a:r>
          </a:p>
          <a:p>
            <a:r>
              <a:rPr lang="en-IN" dirty="0" err="1"/>
              <a:t>Joblib</a:t>
            </a:r>
            <a:r>
              <a:rPr lang="en-IN" dirty="0"/>
              <a:t> – Model and encoder serialization</a:t>
            </a:r>
          </a:p>
          <a:p>
            <a:r>
              <a:rPr lang="en-IN" b="1" dirty="0"/>
              <a:t>Deployment Workflow</a:t>
            </a:r>
          </a:p>
          <a:p>
            <a:r>
              <a:rPr lang="en-IN" dirty="0"/>
              <a:t>Train and evaluate machine learning models</a:t>
            </a:r>
          </a:p>
          <a:p>
            <a:r>
              <a:rPr lang="en-IN" dirty="0"/>
              <a:t>Select tuned </a:t>
            </a:r>
            <a:r>
              <a:rPr lang="en-IN" dirty="0" err="1"/>
              <a:t>XGBoost</a:t>
            </a:r>
            <a:r>
              <a:rPr lang="en-IN" dirty="0"/>
              <a:t> model as final</a:t>
            </a:r>
          </a:p>
          <a:p>
            <a:r>
              <a:rPr lang="en-IN" dirty="0"/>
              <a:t>Save trained model and encoders using </a:t>
            </a:r>
            <a:r>
              <a:rPr lang="en-IN" dirty="0" err="1"/>
              <a:t>Joblib</a:t>
            </a:r>
            <a:endParaRPr lang="en-IN" dirty="0"/>
          </a:p>
          <a:p>
            <a:r>
              <a:rPr lang="en-IN" dirty="0"/>
              <a:t>Build </a:t>
            </a:r>
            <a:r>
              <a:rPr lang="en-IN" dirty="0" err="1"/>
              <a:t>Streamlit</a:t>
            </a:r>
            <a:r>
              <a:rPr lang="en-IN" dirty="0"/>
              <a:t> web interface</a:t>
            </a:r>
          </a:p>
          <a:p>
            <a:r>
              <a:rPr lang="en-IN" dirty="0"/>
              <a:t>Accept employee details as user input</a:t>
            </a:r>
          </a:p>
          <a:p>
            <a:r>
              <a:rPr lang="en-IN" dirty="0"/>
              <a:t>Generate real-time job-change predictions</a:t>
            </a:r>
          </a:p>
          <a:p>
            <a:r>
              <a:rPr lang="en-IN" dirty="0"/>
              <a:t>Display prediction result and probability</a:t>
            </a:r>
          </a:p>
        </p:txBody>
      </p:sp>
      <p:sp>
        <p:nvSpPr>
          <p:cNvPr id="4" name="Content Placeholder 3">
            <a:extLst>
              <a:ext uri="{FF2B5EF4-FFF2-40B4-BE49-F238E27FC236}">
                <a16:creationId xmlns:a16="http://schemas.microsoft.com/office/drawing/2014/main" id="{8AE4A9BD-0109-190F-D441-61EB4C0D9A36}"/>
              </a:ext>
            </a:extLst>
          </p:cNvPr>
          <p:cNvSpPr>
            <a:spLocks noGrp="1"/>
          </p:cNvSpPr>
          <p:nvPr>
            <p:ph sz="half" idx="2"/>
          </p:nvPr>
        </p:nvSpPr>
        <p:spPr/>
        <p:txBody>
          <a:bodyPr>
            <a:normAutofit/>
          </a:bodyPr>
          <a:lstStyle/>
          <a:p>
            <a:r>
              <a:rPr lang="en-US" sz="1500" b="1" dirty="0"/>
              <a:t>Application Features</a:t>
            </a:r>
          </a:p>
          <a:p>
            <a:r>
              <a:rPr lang="en-US" sz="1500" dirty="0"/>
              <a:t>User-friendly input form</a:t>
            </a:r>
          </a:p>
          <a:p>
            <a:r>
              <a:rPr lang="en-US" sz="1500" dirty="0"/>
              <a:t>Real-time prediction output</a:t>
            </a:r>
          </a:p>
          <a:p>
            <a:r>
              <a:rPr lang="en-US" sz="1500" dirty="0"/>
              <a:t>Clear result messages:</a:t>
            </a:r>
          </a:p>
          <a:p>
            <a:pPr lvl="1"/>
            <a:r>
              <a:rPr lang="en-US" sz="1500" dirty="0"/>
              <a:t>Employee Likely to Stay</a:t>
            </a:r>
          </a:p>
          <a:p>
            <a:pPr lvl="1"/>
            <a:r>
              <a:rPr lang="en-US" sz="1500" dirty="0"/>
              <a:t>Employee Likely to Change Job</a:t>
            </a:r>
          </a:p>
          <a:p>
            <a:r>
              <a:rPr lang="en-US" sz="1500" dirty="0"/>
              <a:t>Fast and lightweight execution</a:t>
            </a:r>
          </a:p>
          <a:p>
            <a:r>
              <a:rPr lang="en-US" sz="1500" b="1" dirty="0"/>
              <a:t>Model Integration</a:t>
            </a:r>
          </a:p>
          <a:p>
            <a:r>
              <a:rPr lang="en-US" sz="1500" dirty="0"/>
              <a:t>Load trained </a:t>
            </a:r>
            <a:r>
              <a:rPr lang="en-US" sz="1500" dirty="0" err="1"/>
              <a:t>XGBoost</a:t>
            </a:r>
            <a:r>
              <a:rPr lang="en-US" sz="1500" dirty="0"/>
              <a:t> model into </a:t>
            </a:r>
            <a:r>
              <a:rPr lang="en-US" sz="1500" dirty="0" err="1"/>
              <a:t>Streamlit</a:t>
            </a:r>
            <a:r>
              <a:rPr lang="en-US" sz="1500" dirty="0"/>
              <a:t> app</a:t>
            </a:r>
          </a:p>
          <a:p>
            <a:r>
              <a:rPr lang="en-US" sz="1500" dirty="0"/>
              <a:t>Transform user inputs to required feature format</a:t>
            </a:r>
          </a:p>
          <a:p>
            <a:r>
              <a:rPr lang="en-US" sz="1500" dirty="0"/>
              <a:t>Apply encoding and feature alignment</a:t>
            </a:r>
          </a:p>
          <a:p>
            <a:r>
              <a:rPr lang="en-US" sz="1500" dirty="0"/>
              <a:t>Generate instant predictions</a:t>
            </a:r>
          </a:p>
        </p:txBody>
      </p:sp>
    </p:spTree>
    <p:extLst>
      <p:ext uri="{BB962C8B-B14F-4D97-AF65-F5344CB8AC3E}">
        <p14:creationId xmlns:p14="http://schemas.microsoft.com/office/powerpoint/2010/main" val="3671166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7756</TotalTime>
  <Words>924</Words>
  <Application>Microsoft Office PowerPoint</Application>
  <PresentationFormat>Widescreen</PresentationFormat>
  <Paragraphs>160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Javanese Text</vt:lpstr>
      <vt:lpstr>Times New Roman</vt:lpstr>
      <vt:lpstr>Wingdings</vt:lpstr>
      <vt:lpstr>BIA Template</vt:lpstr>
      <vt:lpstr>PowerPoint Presentation</vt:lpstr>
      <vt:lpstr>Agenda</vt:lpstr>
      <vt:lpstr>Problem Statement</vt:lpstr>
      <vt:lpstr>Project Objectives</vt:lpstr>
      <vt:lpstr>Dataset Overview</vt:lpstr>
      <vt:lpstr>Dataset Overview</vt:lpstr>
      <vt:lpstr>Feature Description &amp; Types</vt:lpstr>
      <vt:lpstr>Data Understanding &amp; Challenges</vt:lpstr>
      <vt:lpstr>Target Variable Analysis</vt:lpstr>
      <vt:lpstr>Exploratory Data Analysis (EDA)</vt:lpstr>
      <vt:lpstr>Exploratory Data Analysis (EDA)</vt:lpstr>
      <vt:lpstr>Feature Relationship Analysis</vt:lpstr>
      <vt:lpstr>Data Preprocessing</vt:lpstr>
      <vt:lpstr>Model Building Approach</vt:lpstr>
      <vt:lpstr>Model Performance Comparison</vt:lpstr>
      <vt:lpstr>Hyperparameter Tuning</vt:lpstr>
      <vt:lpstr>Handling Class Imbalance (SMOTE)</vt:lpstr>
      <vt:lpstr>Final Model Selection</vt:lpstr>
      <vt:lpstr>Conclusion &amp; Future Scope</vt:lpstr>
      <vt:lpstr>Streamlit UI</vt:lpstr>
      <vt:lpstr>App Deployment Using Streamlit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goutham vaishnav</cp:lastModifiedBy>
  <cp:revision>2256</cp:revision>
  <dcterms:created xsi:type="dcterms:W3CDTF">2020-12-23T13:36:00Z</dcterms:created>
  <dcterms:modified xsi:type="dcterms:W3CDTF">2025-12-18T00:07:19Z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